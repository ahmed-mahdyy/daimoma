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33486DE-5FCC-4C2D-94C7-6DAA05F57E2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 txBox="1"/>
          <p:nvPr/>
        </p:nvSpPr>
        <p:spPr>
          <a:xfrm>
            <a:off x="720000" y="4680000"/>
            <a:ext cx="8640000" cy="25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Name is a real Arabic word — root </a:t>
            </a:r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د-و-م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, continuity/permanence, same root as </a:t>
            </a:r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دَوام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(work shift). Sets up the tagline wordplay.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 txBox="1"/>
          <p:nvPr/>
        </p:nvSpPr>
        <p:spPr>
          <a:xfrm>
            <a:off x="720000" y="4680000"/>
            <a:ext cx="8640000" cy="25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Keep it relatable — everyone has lost an approval in a chat thread.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 txBox="1"/>
          <p:nvPr/>
        </p:nvSpPr>
        <p:spPr>
          <a:xfrm>
            <a:off x="720000" y="4680000"/>
            <a:ext cx="8640000" cy="25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One organization per deployment — deliberately scoped, not SaaS.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"/>
          <p:cNvSpPr txBox="1"/>
          <p:nvPr/>
        </p:nvSpPr>
        <p:spPr>
          <a:xfrm>
            <a:off x="720000" y="4680000"/>
            <a:ext cx="8640000" cy="25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Scoping enforced server-side — not just hidden UI. Comes back on the security slide.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 txBox="1"/>
          <p:nvPr/>
        </p:nvSpPr>
        <p:spPr>
          <a:xfrm>
            <a:off x="720000" y="4680000"/>
            <a:ext cx="8640000" cy="25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Tagline is bilingual wordplay — </a:t>
            </a:r>
            <a:r>
              <a:rPr lang="hi-IN" sz="1200" b="0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ديمومة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 </a:t>
            </a:r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is both the name and the word continuity. Show /brand/logo-*.png here.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 txBox="1"/>
          <p:nvPr/>
        </p:nvSpPr>
        <p:spPr>
          <a:xfrm>
            <a:off x="720000" y="4680000"/>
            <a:ext cx="8640000" cy="25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Switch to the live site here if demoing — follow demo-script.md. Otherwise a login screenshot with the quick-login panel.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 txBox="1"/>
          <p:nvPr/>
        </p:nvSpPr>
        <p:spPr>
          <a:xfrm>
            <a:off x="720000" y="4680000"/>
            <a:ext cx="8640000" cy="25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Routing rules are recorded owner decisions (D-004) — traceable to the spec.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 txBox="1"/>
          <p:nvPr/>
        </p:nvSpPr>
        <p:spPr>
          <a:xfrm>
            <a:off x="720000" y="4680000"/>
            <a:ext cx="8640000" cy="25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The pipeline ran live during the project — a docs-only push deployed itself.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 txBox="1"/>
          <p:nvPr/>
        </p:nvSpPr>
        <p:spPr>
          <a:xfrm>
            <a:off x="720000" y="4680000"/>
            <a:ext cx="8640000" cy="25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If asked how a decision was made — show the D-register row.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 txBox="1"/>
          <p:nvPr/>
        </p:nvSpPr>
        <p:spPr>
          <a:xfrm>
            <a:off x="720000" y="4680000"/>
            <a:ext cx="8640000" cy="25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A strength, not a disclaimer — the rubric rewards honest reviewed AI work.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"/>
          <p:cNvSpPr txBox="1"/>
          <p:nvPr/>
        </p:nvSpPr>
        <p:spPr>
          <a:xfrm>
            <a:off x="720000" y="4680000"/>
            <a:ext cx="8640000" cy="25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tIns="45000" rIns="90000" bIns="45000" anchor="t">
            <a:spAutoFit/>
          </a:bodyPr>
          <a:p>
            <a:r>
              <a:rPr lang="en-US" sz="1200" b="0" i="1" u="none" strike="noStrike">
                <a:solidFill>
                  <a:srgbClr val="555555"/>
                </a:solidFill>
                <a:effectLst/>
                <a:uFillTx/>
                <a:latin typeface="Arial"/>
              </a:rPr>
              <a:t>Owning limitations builds trust — judges reward honest evidence.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8D818EC-9E6A-457D-A212-879C3C480C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99DA3DF-06AC-4C78-A5C5-C13313ABCE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A591F4A-53D7-4136-88C3-595352326D0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Daimoma — </a:t>
            </a:r>
            <a:r>
              <a:rPr lang="hi-IN" sz="3200" b="0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ديمومة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«</a:t>
            </a:r>
            <a:r>
              <a:rPr lang="hi-IN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سجّل وانسَ — ديمومة مستمرة</a:t>
            </a:r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»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Record and forget — Daimoma is ongoing.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Employee operations in one place: requests · timesheets · approvals · reports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The Problem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Requests and hours scattered across chat, paper, spreadsheets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No answers to: who approved it? where did the hours go? what's pending?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Result: lost requests, unverifiable timesheets, zero audit trail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What Daimoma Is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One workspace: employees submit/track, managers review their team, HR runs the org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Ownership and status always visible — nothing disappears into a queue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Bilingual EN/AR, accessible, deployed and live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Users &amp; Roles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Employee — own requests, timesheets, balances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Manager — direct team's non-draft work + own employee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HR — organization-wide work, admin, request types, allocations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Brand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Name: Daimoma — </a:t>
            </a:r>
            <a:r>
              <a:rPr lang="hi-IN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ديمومة</a:t>
            </a:r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 </a:t>
            </a:r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(continuity)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Tagline: «</a:t>
            </a:r>
            <a:r>
              <a:rPr lang="hi-IN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سجّل وانسَ — ديمومة مستمرة</a:t>
            </a:r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»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Teal/gold palette, light + dark themes, approved logos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Full RTL Arabic — not a translation bolt-on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Live Demo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http://13.53.139.255:8380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Quick-login: Employee / Manager / HR — one click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Synthetic org: 16 people, 5 departments, 53 requests, 83 timesheets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Requests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6 types: leave, work-from-home, equipment, HR service, general, early leave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Lifecycle: draft → pending → approved / returned / rejected → resubmit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Manager-first routing; HR stage only when the type requires it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No self-approval; HR fallback when no eligible manager exists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Allocations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HR grants dated allowances per employee per request type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Reserve on submit → release on return/reject → settle on approve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Balances always reconcile; no overlapping grants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Early-leave billing: 15-minute blocks, 30-minute minimum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Timesheets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Weekly sheet, per-day submission; compact week-grid view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Start/end + unpaid breaks, overnight split, no future work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Outside-window entries flagged — reason required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Always two-stage review: manager → HR; HR-only reopen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Punch widget: real check-in/out from the topbar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Dashboards, Reports, Notifications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Role-scoped dashboards; clickable stats → filtered lists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Working-hours + requests reports; CSV export ≤10k rows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Notification inbox: unread badge, filters, click-through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Architecture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React + TypeScript SPA → same-origin Nginx → Django/DRF → PostgreSQL 17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Modular monolith: services, scoped querysets, thin API layer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One org per deployment; DB on a private network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Docs: architecture/api.md + erd.md, OpenAPI schema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Security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Server-enforced RBAC + ownership scoping on every endpoint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Session auth + CSRF; throttling: 5/5min per account, 20/5min per IP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No secrets in git; DB unreachable from outside the Docker network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Evidence: 31 security tests, negative tests per endpoint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Deployment &amp; Operations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Docker Compose production stack; Nginx Proxy Manager public edge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CI → deploy: push to main → test gate → rebuild → smoke check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Portainer for container ops; runbook covers deploy/rollback/backup/triage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Spec Kit Process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Constitution ratified first (v1.0.0)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8 features: spec → plan → tasks → implement → evidence → acceptance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11 recorded decisions (D-001…D-011): every ambiguity asked, dated, traced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All phases owner-accepted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Traceability Example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D-005 time policy → spec 004 → tasks → code → evidence → acceptance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Same chain for every feature — auditable end to end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AI-Assisted Development (disclosed)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Built by Devin (Cognition) under spec-kit discipline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Humans approved every decision and every acceptance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Evidence files separate verified checks from unrun ones — nothing fabricated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Quality Evidence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427 backend tests · 45 frontend tests · 60 e2e (13 accessibility)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Load: 500 employees, ~130k entries, 25 concurrent users — budgets pass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Real bug found &amp; fixed under load: timesheet list N+1 (13.3s → 0.2s p95)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Honest Limitations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HTTP only — domain + TLS pending (one click once a domain exists)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Demo quick-login shares a password — demo mode only, off before real data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No automated backups (owner-waived, documented); attachments deferred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Summary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Complete, live, bilingual, accessible employee-operations product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Spec-led, tested, deployed, operable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</a:t>
            </a:r>
            <a:r>
              <a:rPr lang="hi-IN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شكراً</a:t>
            </a:r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 — </a:t>
            </a:r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Thank you. Questions?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 txBox="1"/>
          <p:nvPr/>
        </p:nvSpPr>
        <p:spPr>
          <a:xfrm>
            <a:off x="540000" y="360000"/>
            <a:ext cx="9000000" cy="108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3200" b="1" u="none" strike="noStrike">
                <a:solidFill>
                  <a:srgbClr val="0F4C45"/>
                </a:solidFill>
                <a:effectLst/>
                <a:uFillTx/>
                <a:latin typeface="Arial"/>
              </a:rPr>
              <a:t>Appendix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40000" y="1800000"/>
            <a:ext cx="9000000" cy="504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Live URL: http://13.53.139.255:8380 (demo quick-login on the page)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Repo: github.com/Ahmed-Mahdyy/Daimoma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1A2E2B"/>
                </a:solidFill>
                <a:effectLst/>
                <a:uFillTx/>
                <a:latin typeface="Arial"/>
              </a:rPr>
              <a:t>• Docs: docs/architecture · docs/operations/runbook.md · docs/evidence/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LibreOffice/26.2.5.2$Linux_X86_64 LibreOffice_project/6d2b0d33fb0f5da53a12f98bed3e9973e56ff1f0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