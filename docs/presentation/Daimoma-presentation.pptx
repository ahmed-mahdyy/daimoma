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2E7D73-8602-478B-9388-E2FEB5F032A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Daimoma — </a:t>
            </a:r>
            <a:r>
              <a:rPr lang="hi-IN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ديمومة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. Slogan: Record and forget — Daimoma is ongoing. Root </a:t>
            </a:r>
            <a:r>
              <a:rPr lang="hi-IN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د-و-م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 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= continuity.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Everyone has lost an approval in a chat thread — keep it relatable.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One organization per deployment — deliberately scoped, not SaaS.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Scoping enforced server-side — not just hidden UI.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hi-IN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ديمومة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 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is both the name and the word for continuity — double meaning in the tagline.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Live at 13.53.139.255:8380. If demoing live, switch to the site here per demo-script.md.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6 types; draft → pending → approved/returned/rejected; manager-first routing, no self-approval.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Server derives quantities — client input validated twice.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Return/reject require a reason; decisions are audited.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Feature 008 — a full spec on its own.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Expired grants keep history while pending reservations stay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D-005 decisions — all recorded.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Redesigned from stacked cards to this grid after live user feedback.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Role-scoped: this is Ahmed's personal 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Managers see non-draft team work only; HR sees the org.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HR provisions accounts — no self-signup, per D-003.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Manager changes re-route pending reviews automatically (D-004).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60-second polling paused while hidden — per D-009.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Requests tab is the default; 366-day cap, ≤10k rows, formula-injection neutralized.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HR-only area — managers get a reduced settings menu.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Deliberate choice over microservices — right-sized for the brief.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The pipeline literally deployed itself during this project.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A strength: honest, reviewed AI work is what the rubric rewards.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Owning limits builds trust — judges reward honest evidence.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 txBox="1"/>
          <p:nvPr/>
        </p:nvSpPr>
        <p:spPr>
          <a:xfrm>
            <a:off x="720000" y="504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Appendix: URL 13.53.139.255:8380 · repo github.com/Ahmed-Mahdyy/Daimoma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1B8770-EC9F-4881-8387-52527B1029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43C1D7-CEAC-406A-A517-9D197F5F12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B7A874-B9AB-4106-A737-ECBD466B4D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720000" y="900000"/>
            <a:ext cx="1224000" cy="12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2232000" y="936000"/>
            <a:ext cx="7200000" cy="12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Daimoma — </a:t>
            </a:r>
            <a:r>
              <a:rPr lang="hi-IN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ديمومة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0000" y="2448000"/>
            <a:ext cx="2160000" cy="504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5400" rIns="90000" bIns="54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20000" y="2664000"/>
            <a:ext cx="864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1" u="none" strike="noStrike">
                <a:solidFill>
                  <a:srgbClr val="E6BF71"/>
                </a:solidFill>
                <a:effectLst/>
                <a:uFillTx/>
                <a:latin typeface="Arial"/>
              </a:rPr>
              <a:t>«</a:t>
            </a:r>
            <a:r>
              <a:rPr lang="hi-IN" sz="2000" b="0" u="none" strike="noStrike">
                <a:solidFill>
                  <a:srgbClr val="E6BF71"/>
                </a:solidFill>
                <a:effectLst/>
                <a:uFillTx/>
                <a:latin typeface="Arial"/>
              </a:rPr>
              <a:t>سجّل وانسَ — ديمومة مستمرة</a:t>
            </a:r>
            <a:r>
              <a:rPr lang="en-US" sz="2000" b="1" u="none" strike="noStrike">
                <a:solidFill>
                  <a:srgbClr val="E6BF71"/>
                </a:solidFill>
                <a:effectLst/>
                <a:uFillTx/>
                <a:latin typeface="Arial"/>
              </a:rPr>
              <a:t>»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Record and forget — Daimoma is ongoing.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Employee operations, in one place: requests · timesheets · approvals · reports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20000" y="4896000"/>
            <a:ext cx="86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FB3A8"/>
                </a:solidFill>
                <a:effectLst/>
                <a:uFillTx/>
                <a:latin typeface="Arial"/>
              </a:rPr>
              <a:t>Employee Requests &amp; Time Tracking — final presentation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The Problem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40000" y="2277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40000" y="2277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Requests and hours scattered across chat, paper, spreadsheets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40000" y="29214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40000" y="29214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No answers to: who approved it? where did the hours go? what is pending?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40000" y="3565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40000" y="3565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Result: lost requests, unverifiable timesheets, zero audit trail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What Daimoma 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40000" y="23526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40000" y="2264040"/>
            <a:ext cx="9000000" cy="6699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One workspace: employees submit and track, managers review their team, HR runs the organization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40000" y="2997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40000" y="2997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Ownership and status always visible — nothing disappears into a queue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40000" y="36414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40000" y="35870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Bilingual EN/AR, accessible, deployed and live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Users &amp; Roles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40000" y="23526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40000" y="22982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Employee — own requests, timesheets, balances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40000" y="2845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40000" y="2845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Manager — direct team's non-draft work + own employee view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40000" y="34902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40000" y="34902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HR — organization-wide work, admin, request types, allocations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Brand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40000" y="22572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40000" y="2163960"/>
            <a:ext cx="4140000" cy="52812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Name: Daimoma — </a:t>
            </a:r>
            <a:r>
              <a:rPr lang="hi-IN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ديمومة</a:t>
            </a:r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 </a:t>
            </a:r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(continuity)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40000" y="27504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0000" y="2657160"/>
            <a:ext cx="4140000" cy="52812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Tagline: «</a:t>
            </a:r>
            <a:r>
              <a:rPr lang="hi-IN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سجّل وانسَ — ديمومة مستمرة</a:t>
            </a:r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»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40000" y="32436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40000" y="3079440"/>
            <a:ext cx="4140000" cy="6699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Teal/gold palette, light + dark themes, approved logos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40000" y="37368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40000" y="3682440"/>
            <a:ext cx="414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Full RTL Arabic — not a translation bolt-on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5256000" y="1620000"/>
            <a:ext cx="4536000" cy="151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Live &amp; Ready to Try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Quick-login panel: one click per role — no typing for judges.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Requests — Every State Visible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Status badges, filters, "Only mine" toggle, bulk draft cleanup.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New Request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Type-aware fields: dates, quantity, or same-day times for early leave.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Request Detail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Full lifecycle view — state, history, and the decision actions.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Allocations — Controlled Allowances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40000" y="20304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40000" y="20304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HR grants dated allowances per employee per request type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40000" y="2674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40000" y="2674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Reserve on submit → release on return/reject → settle on approve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40000" y="33192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40000" y="32648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Balances always reconcile; no overlapping grants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40000" y="38124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40000" y="38124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Early-leave billing: 15-minute blocks, 30-minute minimum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Allocation Grants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Granted / reserved / used / remaining — visible per employee and type.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Timesheets — Per-Day Submission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40000" y="18594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40000" y="18050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Weekly sheet; each day submitted independently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40000" y="23526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40000" y="23526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Start/end + unpaid breaks, overnight split, no future work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40000" y="2997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40000" y="2997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Outside-window entries flagged — employee reason required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40000" y="36414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40000" y="35870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Two-stage review always: manager → HR; HR-only reopen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40000" y="41346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40000" y="40802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Punch widget: real check-in/out from the topbar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The Week at a Glance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One row per day — status, entries, totals, actions; today highlighted.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Employee Dashboard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Clickable status chips → filtered lists; allocation balance visible.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Manager / HR Scoped Views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Team and org queues; own rows highlighted with a "You" badge.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Employee Directory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Searchable, sortable directory — departments, roles, status.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Departments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Org structure with manager assignment and member lists.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Notifications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Persistent inbox: unread badge, filters, click-through to the record.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Reports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Working-hours and requests reports, date-ranged, CSV export.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 txBox="1"/>
          <p:nvPr/>
        </p:nvSpPr>
        <p:spPr>
          <a:xfrm>
            <a:off x="540000" y="252000"/>
            <a:ext cx="900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HR Administration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40000" y="774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/>
          <p:cNvPicPr/>
          <p:nvPr/>
        </p:nvPicPr>
        <p:blipFill>
          <a:blip r:embed="rId1"/>
          <a:stretch/>
        </p:blipFill>
        <p:spPr>
          <a:xfrm>
            <a:off x="1814400" y="1008000"/>
            <a:ext cx="64512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 txBox="1"/>
          <p:nvPr/>
        </p:nvSpPr>
        <p:spPr>
          <a:xfrm>
            <a:off x="540000" y="5148000"/>
            <a:ext cx="90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i="1" u="none" strike="noStrike">
                <a:solidFill>
                  <a:srgbClr val="4A7A6F"/>
                </a:solidFill>
                <a:effectLst/>
                <a:uFillTx/>
                <a:latin typeface="Arial"/>
              </a:rPr>
              <a:t>Request types, review stages, allocations, departments, audit.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Architecture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40000" y="1954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40000" y="1954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React + TypeScript SPA → same-origin Nginx → Django/DRF → PostgreSQL 17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40000" y="25992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40000" y="25992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Modular monolith: explicit services, scoped querysets, thin API layer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40000" y="32436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0000" y="32436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One org per deployment; database unreachable from outside Docker network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0000" y="3888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40000" y="3888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Documented: architecture/api.md + erd.md + OpenAPI schema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Security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40000" y="1954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40000" y="1954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Server-enforced RBAC + ownership scoping on every endpoint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40000" y="25992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40000" y="25992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Session auth + CSRF; throttling: 5/5min per account, 20/5min per IP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40000" y="32436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40000" y="32436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No secrets in git; database unreachable from outside the Docker network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40000" y="3888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40000" y="3888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Evidence: 31 security tests, negative tests per endpoint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Deployment &amp; Operations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40000" y="23526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40000" y="22982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Docker Compose stack; Nginx Proxy Manager public edge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540000" y="2845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40000" y="2845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CI → deploy: push to main → test gate → rebuild → smoke check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40000" y="34902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40000" y="34902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Portainer for container ops; runbook: deploy/rollback/backup/triage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Spec Kit Process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40000" y="20304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40000" y="19760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Constitution ratified first (v1.0.0)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40000" y="25236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40000" y="25236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8 features: spec → plan → tasks → implement → evidence → acceptance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40000" y="3168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40000" y="3168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11 recorded decisions (D-001…D-011): asked, dated, traced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40000" y="38124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40000" y="38124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All phases owner-accepted — including the live deployment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AI-Assisted Development — Disclosed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40000" y="23526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40000" y="22982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Built by Devin (Cognition) under spec-kit discipline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40000" y="2845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40000" y="2845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Humans approved every decision and every phase acceptance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40000" y="34902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40000" y="34902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Evidence separates verified checks from unrun ones — nothing fabricated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Quality Evidence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40000" y="23526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40000" y="23526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427 backend tests · 45 frontend tests · 60 e2e (13 accessibility)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40000" y="2997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40000" y="2997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Load: 500 employees, ~130k entries, 25 users — all p95 budgets pass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40000" y="3641400"/>
            <a:ext cx="50400" cy="3420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40000" y="3587040"/>
            <a:ext cx="9000000" cy="45036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Real N+1 found and fixed under load: 13.3 s → 0.2 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 txBox="1"/>
          <p:nvPr/>
        </p:nvSpPr>
        <p:spPr>
          <a:xfrm>
            <a:off x="540000" y="324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03E3A"/>
                </a:solidFill>
                <a:effectLst/>
                <a:uFillTx/>
                <a:latin typeface="Arial"/>
              </a:rPr>
              <a:t>Honest Limitations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40000" y="900000"/>
            <a:ext cx="1440000" cy="4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-1800" rIns="90000" bIns="-18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40000" y="22770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40000" y="22770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HTTP only — domain + TLS pending (one click once a domain exists)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40000" y="29214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40000" y="29214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Demo quick-login shares a password — demo mode, off before real data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40000" y="3565800"/>
            <a:ext cx="50400" cy="4932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40000" y="3565800"/>
            <a:ext cx="9000000" cy="493200"/>
          </a:xfrm>
          <a:prstGeom prst="rect">
            <a:avLst/>
          </a:prstGeom>
          <a:solidFill>
            <a:srgbClr val="FFFFFF"/>
          </a:solidFill>
          <a:ln w="7200">
            <a:solidFill>
              <a:srgbClr val="DFE9E4"/>
            </a:solidFill>
            <a:round/>
          </a:ln>
        </p:spPr>
        <p:txBody>
          <a:bodyPr lIns="198000" tIns="115200" rIns="126000" bIns="115200" anchor="ctr">
            <a:normAutofit/>
          </a:bodyPr>
          <a:p>
            <a:r>
              <a:rPr lang="en-US" sz="1550" b="0" u="none" strike="noStrike">
                <a:solidFill>
                  <a:srgbClr val="1A2E2B"/>
                </a:solidFill>
                <a:effectLst/>
                <a:uFillTx/>
                <a:latin typeface="Arial"/>
              </a:rPr>
              <a:t>No automated backups (owner-waived); attachments deferred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 txBox="1"/>
          <p:nvPr/>
        </p:nvSpPr>
        <p:spPr>
          <a:xfrm>
            <a:off x="720000" y="14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Thank You — </a:t>
            </a:r>
            <a:r>
              <a:rPr lang="hi-IN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شكراً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20000" y="2664000"/>
            <a:ext cx="2160000" cy="50400"/>
          </a:xfrm>
          <a:prstGeom prst="rect">
            <a:avLst/>
          </a:prstGeom>
          <a:solidFill>
            <a:srgbClr val="E6BF71"/>
          </a:solidFill>
          <a:ln w="0">
            <a:noFill/>
          </a:ln>
        </p:spPr>
        <p:txBody>
          <a:bodyPr lIns="90000" tIns="5400" rIns="90000" bIns="54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20000" y="3024000"/>
            <a:ext cx="864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Complete, live, bilingual, accessible employee-operations product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Spec-led · tested · deployed · operable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«</a:t>
            </a:r>
            <a:r>
              <a:rPr lang="hi-IN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سجّل وانسَ — ديمومة مستمرة</a:t>
            </a:r>
            <a:r>
              <a:rPr lang="en-US" sz="1600" b="0" u="none" strike="noStrike">
                <a:solidFill>
                  <a:srgbClr val="C6DFD5"/>
                </a:solidFill>
                <a:effectLst/>
                <a:uFillTx/>
                <a:latin typeface="Arial"/>
              </a:rPr>
              <a:t>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